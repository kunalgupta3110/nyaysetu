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arcellus" charset="1" panose="020E0602050203020307"/>
      <p:regular r:id="rId16"/>
    </p:embeddedFont>
    <p:embeddedFont>
      <p:font typeface="Montserrat Italics" charset="1" panose="00000500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86582" y="1198807"/>
            <a:ext cx="5259591" cy="7889377"/>
            <a:chOff x="0" y="0"/>
            <a:chExt cx="7012788" cy="1051916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12813" cy="10519156"/>
            </a:xfrm>
            <a:custGeom>
              <a:avLst/>
              <a:gdLst/>
              <a:ahLst/>
              <a:cxnLst/>
              <a:rect r="r" b="b" t="t" l="l"/>
              <a:pathLst>
                <a:path h="10519156" w="7012813">
                  <a:moveTo>
                    <a:pt x="0" y="0"/>
                  </a:moveTo>
                  <a:lnTo>
                    <a:pt x="7012813" y="0"/>
                  </a:lnTo>
                  <a:lnTo>
                    <a:pt x="7012813" y="10519156"/>
                  </a:lnTo>
                  <a:lnTo>
                    <a:pt x="0" y="10519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3414560"/>
            <a:ext cx="8151609" cy="112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NyaySetu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4947047"/>
            <a:ext cx="9445523" cy="38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i="true">
                <a:solidFill>
                  <a:srgbClr val="67534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AI-Powered Legal Companion for India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238" y="5653535"/>
            <a:ext cx="1737274" cy="464791"/>
            <a:chOff x="0" y="0"/>
            <a:chExt cx="2316366" cy="6197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16353" cy="619633"/>
            </a:xfrm>
            <a:custGeom>
              <a:avLst/>
              <a:gdLst/>
              <a:ahLst/>
              <a:cxnLst/>
              <a:rect r="r" b="b" t="t" l="l"/>
              <a:pathLst>
                <a:path h="619633" w="2316353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189353" y="0"/>
                  </a:lnTo>
                  <a:cubicBezTo>
                    <a:pt x="2259457" y="0"/>
                    <a:pt x="2316353" y="56896"/>
                    <a:pt x="2316353" y="127000"/>
                  </a:cubicBezTo>
                  <a:lnTo>
                    <a:pt x="2316353" y="492633"/>
                  </a:lnTo>
                  <a:cubicBezTo>
                    <a:pt x="2316353" y="562737"/>
                    <a:pt x="2259457" y="619633"/>
                    <a:pt x="2189353" y="619633"/>
                  </a:cubicBezTo>
                  <a:lnTo>
                    <a:pt x="127000" y="619633"/>
                  </a:lnTo>
                  <a:cubicBezTo>
                    <a:pt x="56896" y="619633"/>
                    <a:pt x="0" y="562737"/>
                    <a:pt x="0" y="492633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62345" y="5709942"/>
            <a:ext cx="1397051" cy="32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50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PRESENTER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418212"/>
            <a:ext cx="9445523" cy="38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true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Kunal Gupta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68123" y="1161602"/>
            <a:ext cx="5308997" cy="7963643"/>
            <a:chOff x="0" y="0"/>
            <a:chExt cx="7078662" cy="1061819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78726" cy="10618216"/>
            </a:xfrm>
            <a:custGeom>
              <a:avLst/>
              <a:gdLst/>
              <a:ahLst/>
              <a:cxnLst/>
              <a:rect r="r" b="b" t="t" l="l"/>
              <a:pathLst>
                <a:path h="10618216" w="7078726">
                  <a:moveTo>
                    <a:pt x="0" y="0"/>
                  </a:moveTo>
                  <a:lnTo>
                    <a:pt x="7078726" y="0"/>
                  </a:lnTo>
                  <a:lnTo>
                    <a:pt x="7078726" y="10618216"/>
                  </a:lnTo>
                  <a:lnTo>
                    <a:pt x="0" y="10618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" t="0" r="-2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75249" y="562270"/>
            <a:ext cx="6368358" cy="88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4999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5249" y="1716291"/>
            <a:ext cx="9879511" cy="75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Millions of Indians face legal challenges every day — yet the legal system remains out of reach for most. The result: people avoid legal help entirely, or make costly wrong decisions.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5724" y="2660752"/>
            <a:ext cx="9898561" cy="1274121"/>
            <a:chOff x="0" y="0"/>
            <a:chExt cx="13198081" cy="16988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3172694" cy="1673479"/>
            </a:xfrm>
            <a:custGeom>
              <a:avLst/>
              <a:gdLst/>
              <a:ahLst/>
              <a:cxnLst/>
              <a:rect r="r" b="b" t="t" l="l"/>
              <a:pathLst>
                <a:path h="1673479" w="13172694">
                  <a:moveTo>
                    <a:pt x="0" y="124079"/>
                  </a:moveTo>
                  <a:cubicBezTo>
                    <a:pt x="0" y="55499"/>
                    <a:pt x="56261" y="0"/>
                    <a:pt x="125730" y="0"/>
                  </a:cubicBezTo>
                  <a:lnTo>
                    <a:pt x="13046963" y="0"/>
                  </a:lnTo>
                  <a:cubicBezTo>
                    <a:pt x="13116432" y="0"/>
                    <a:pt x="13172694" y="55499"/>
                    <a:pt x="13172694" y="124079"/>
                  </a:cubicBezTo>
                  <a:lnTo>
                    <a:pt x="13172694" y="1549400"/>
                  </a:lnTo>
                  <a:cubicBezTo>
                    <a:pt x="13172694" y="1617853"/>
                    <a:pt x="13116432" y="1673479"/>
                    <a:pt x="13046963" y="1673479"/>
                  </a:cubicBezTo>
                  <a:lnTo>
                    <a:pt x="125730" y="1673479"/>
                  </a:lnTo>
                  <a:cubicBezTo>
                    <a:pt x="56261" y="1673479"/>
                    <a:pt x="0" y="1617980"/>
                    <a:pt x="0" y="1549400"/>
                  </a:cubicBezTo>
                  <a:close/>
                </a:path>
              </a:pathLst>
            </a:custGeom>
            <a:solidFill>
              <a:srgbClr val="FFFFF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98094" cy="1698879"/>
            </a:xfrm>
            <a:custGeom>
              <a:avLst/>
              <a:gdLst/>
              <a:ahLst/>
              <a:cxnLst/>
              <a:rect r="r" b="b" t="t" l="l"/>
              <a:pathLst>
                <a:path h="1698879" w="13198094">
                  <a:moveTo>
                    <a:pt x="0" y="136779"/>
                  </a:moveTo>
                  <a:cubicBezTo>
                    <a:pt x="0" y="61087"/>
                    <a:pt x="62103" y="0"/>
                    <a:pt x="138430" y="0"/>
                  </a:cubicBezTo>
                  <a:lnTo>
                    <a:pt x="13059663" y="0"/>
                  </a:lnTo>
                  <a:lnTo>
                    <a:pt x="13059663" y="12700"/>
                  </a:lnTo>
                  <a:lnTo>
                    <a:pt x="13059663" y="0"/>
                  </a:lnTo>
                  <a:cubicBezTo>
                    <a:pt x="13135990" y="0"/>
                    <a:pt x="13198094" y="61087"/>
                    <a:pt x="13198094" y="136779"/>
                  </a:cubicBezTo>
                  <a:lnTo>
                    <a:pt x="13185394" y="136779"/>
                  </a:lnTo>
                  <a:lnTo>
                    <a:pt x="13198094" y="136779"/>
                  </a:lnTo>
                  <a:lnTo>
                    <a:pt x="13198094" y="1562100"/>
                  </a:lnTo>
                  <a:lnTo>
                    <a:pt x="13185394" y="1562100"/>
                  </a:lnTo>
                  <a:lnTo>
                    <a:pt x="13198094" y="1562100"/>
                  </a:lnTo>
                  <a:cubicBezTo>
                    <a:pt x="13198094" y="1637792"/>
                    <a:pt x="13135990" y="1698879"/>
                    <a:pt x="13059663" y="1698879"/>
                  </a:cubicBezTo>
                  <a:lnTo>
                    <a:pt x="13059663" y="1686179"/>
                  </a:lnTo>
                  <a:lnTo>
                    <a:pt x="13059663" y="1698879"/>
                  </a:lnTo>
                  <a:lnTo>
                    <a:pt x="138430" y="1698879"/>
                  </a:lnTo>
                  <a:lnTo>
                    <a:pt x="138430" y="1686179"/>
                  </a:lnTo>
                  <a:lnTo>
                    <a:pt x="138430" y="1698879"/>
                  </a:lnTo>
                  <a:cubicBezTo>
                    <a:pt x="62103" y="1698879"/>
                    <a:pt x="0" y="1637792"/>
                    <a:pt x="0" y="1562100"/>
                  </a:cubicBezTo>
                  <a:lnTo>
                    <a:pt x="0" y="136779"/>
                  </a:lnTo>
                  <a:lnTo>
                    <a:pt x="12700" y="136779"/>
                  </a:lnTo>
                  <a:lnTo>
                    <a:pt x="0" y="136779"/>
                  </a:lnTo>
                  <a:moveTo>
                    <a:pt x="25400" y="136779"/>
                  </a:moveTo>
                  <a:lnTo>
                    <a:pt x="25400" y="1562100"/>
                  </a:lnTo>
                  <a:lnTo>
                    <a:pt x="12700" y="1562100"/>
                  </a:lnTo>
                  <a:lnTo>
                    <a:pt x="25400" y="1562100"/>
                  </a:lnTo>
                  <a:cubicBezTo>
                    <a:pt x="25400" y="1623441"/>
                    <a:pt x="75819" y="1673479"/>
                    <a:pt x="138430" y="1673479"/>
                  </a:cubicBezTo>
                  <a:lnTo>
                    <a:pt x="13059663" y="1673479"/>
                  </a:lnTo>
                  <a:cubicBezTo>
                    <a:pt x="13122275" y="1673479"/>
                    <a:pt x="13172694" y="1623441"/>
                    <a:pt x="13172694" y="1562100"/>
                  </a:cubicBezTo>
                  <a:lnTo>
                    <a:pt x="13172694" y="136779"/>
                  </a:lnTo>
                  <a:cubicBezTo>
                    <a:pt x="13172694" y="75438"/>
                    <a:pt x="13122275" y="25400"/>
                    <a:pt x="13059663" y="25400"/>
                  </a:cubicBezTo>
                  <a:lnTo>
                    <a:pt x="138430" y="25400"/>
                  </a:lnTo>
                  <a:lnTo>
                    <a:pt x="138430" y="12700"/>
                  </a:lnTo>
                  <a:lnTo>
                    <a:pt x="138430" y="25400"/>
                  </a:lnTo>
                  <a:cubicBezTo>
                    <a:pt x="75819" y="25400"/>
                    <a:pt x="25400" y="75438"/>
                    <a:pt x="25400" y="136779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5756" y="2882208"/>
            <a:ext cx="3184179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💸</a:t>
            </a:r>
            <a:r>
              <a:rPr lang="en-US" sz="2499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 Too Expensive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5756" y="3438077"/>
            <a:ext cx="9398498" cy="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Legal consultations cost thousands of rupees — unaffordable for the average citizen.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65724" y="4088759"/>
            <a:ext cx="9898561" cy="1530401"/>
            <a:chOff x="0" y="0"/>
            <a:chExt cx="13198081" cy="20405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13172694" cy="2015109"/>
            </a:xfrm>
            <a:custGeom>
              <a:avLst/>
              <a:gdLst/>
              <a:ahLst/>
              <a:cxnLst/>
              <a:rect r="r" b="b" t="t" l="l"/>
              <a:pathLst>
                <a:path h="2015109" w="13172694">
                  <a:moveTo>
                    <a:pt x="0" y="124079"/>
                  </a:moveTo>
                  <a:cubicBezTo>
                    <a:pt x="0" y="55499"/>
                    <a:pt x="56134" y="0"/>
                    <a:pt x="125349" y="0"/>
                  </a:cubicBezTo>
                  <a:lnTo>
                    <a:pt x="13047345" y="0"/>
                  </a:lnTo>
                  <a:cubicBezTo>
                    <a:pt x="13116559" y="0"/>
                    <a:pt x="13172694" y="55499"/>
                    <a:pt x="13172694" y="124079"/>
                  </a:cubicBezTo>
                  <a:lnTo>
                    <a:pt x="13172694" y="1891030"/>
                  </a:lnTo>
                  <a:cubicBezTo>
                    <a:pt x="13172694" y="1959483"/>
                    <a:pt x="13116559" y="2015109"/>
                    <a:pt x="13047345" y="2015109"/>
                  </a:cubicBezTo>
                  <a:lnTo>
                    <a:pt x="125349" y="2015109"/>
                  </a:lnTo>
                  <a:cubicBezTo>
                    <a:pt x="56134" y="2015109"/>
                    <a:pt x="0" y="1959610"/>
                    <a:pt x="0" y="1891030"/>
                  </a:cubicBezTo>
                  <a:close/>
                </a:path>
              </a:pathLst>
            </a:custGeom>
            <a:solidFill>
              <a:srgbClr val="FFFFF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98094" cy="2040509"/>
            </a:xfrm>
            <a:custGeom>
              <a:avLst/>
              <a:gdLst/>
              <a:ahLst/>
              <a:cxnLst/>
              <a:rect r="r" b="b" t="t" l="l"/>
              <a:pathLst>
                <a:path h="2040509" w="13198094">
                  <a:moveTo>
                    <a:pt x="0" y="136779"/>
                  </a:moveTo>
                  <a:cubicBezTo>
                    <a:pt x="0" y="61087"/>
                    <a:pt x="61976" y="0"/>
                    <a:pt x="138049" y="0"/>
                  </a:cubicBezTo>
                  <a:lnTo>
                    <a:pt x="13060045" y="0"/>
                  </a:lnTo>
                  <a:lnTo>
                    <a:pt x="13060045" y="12700"/>
                  </a:lnTo>
                  <a:lnTo>
                    <a:pt x="13060045" y="0"/>
                  </a:lnTo>
                  <a:cubicBezTo>
                    <a:pt x="13136118" y="0"/>
                    <a:pt x="13198094" y="61087"/>
                    <a:pt x="13198094" y="136779"/>
                  </a:cubicBezTo>
                  <a:lnTo>
                    <a:pt x="13185394" y="136779"/>
                  </a:lnTo>
                  <a:lnTo>
                    <a:pt x="13198094" y="136779"/>
                  </a:lnTo>
                  <a:lnTo>
                    <a:pt x="13198094" y="1903730"/>
                  </a:lnTo>
                  <a:lnTo>
                    <a:pt x="13185394" y="1903730"/>
                  </a:lnTo>
                  <a:lnTo>
                    <a:pt x="13198094" y="1903730"/>
                  </a:lnTo>
                  <a:cubicBezTo>
                    <a:pt x="13198094" y="1979422"/>
                    <a:pt x="13136118" y="2040509"/>
                    <a:pt x="13060045" y="2040509"/>
                  </a:cubicBezTo>
                  <a:lnTo>
                    <a:pt x="13060045" y="2027809"/>
                  </a:lnTo>
                  <a:lnTo>
                    <a:pt x="13060045" y="2040509"/>
                  </a:lnTo>
                  <a:lnTo>
                    <a:pt x="138049" y="2040509"/>
                  </a:lnTo>
                  <a:lnTo>
                    <a:pt x="138049" y="2027809"/>
                  </a:lnTo>
                  <a:lnTo>
                    <a:pt x="138049" y="2040509"/>
                  </a:lnTo>
                  <a:cubicBezTo>
                    <a:pt x="61976" y="2040509"/>
                    <a:pt x="0" y="1979422"/>
                    <a:pt x="0" y="1903730"/>
                  </a:cubicBezTo>
                  <a:lnTo>
                    <a:pt x="0" y="136779"/>
                  </a:lnTo>
                  <a:lnTo>
                    <a:pt x="12700" y="136779"/>
                  </a:lnTo>
                  <a:lnTo>
                    <a:pt x="0" y="136779"/>
                  </a:lnTo>
                  <a:moveTo>
                    <a:pt x="25400" y="136779"/>
                  </a:moveTo>
                  <a:lnTo>
                    <a:pt x="25400" y="1903730"/>
                  </a:lnTo>
                  <a:lnTo>
                    <a:pt x="12700" y="1903730"/>
                  </a:lnTo>
                  <a:lnTo>
                    <a:pt x="25400" y="1903730"/>
                  </a:lnTo>
                  <a:cubicBezTo>
                    <a:pt x="25400" y="1965071"/>
                    <a:pt x="75692" y="2015109"/>
                    <a:pt x="138049" y="2015109"/>
                  </a:cubicBezTo>
                  <a:lnTo>
                    <a:pt x="13060045" y="2015109"/>
                  </a:lnTo>
                  <a:cubicBezTo>
                    <a:pt x="13122402" y="2015109"/>
                    <a:pt x="13172694" y="1965071"/>
                    <a:pt x="13172694" y="1903730"/>
                  </a:cubicBezTo>
                  <a:lnTo>
                    <a:pt x="13172694" y="136779"/>
                  </a:lnTo>
                  <a:cubicBezTo>
                    <a:pt x="13172694" y="75438"/>
                    <a:pt x="13122402" y="25400"/>
                    <a:pt x="13060045" y="25400"/>
                  </a:cubicBezTo>
                  <a:lnTo>
                    <a:pt x="138049" y="25400"/>
                  </a:lnTo>
                  <a:lnTo>
                    <a:pt x="138049" y="12700"/>
                  </a:lnTo>
                  <a:lnTo>
                    <a:pt x="138049" y="25400"/>
                  </a:lnTo>
                  <a:cubicBezTo>
                    <a:pt x="75692" y="25400"/>
                    <a:pt x="25400" y="75438"/>
                    <a:pt x="25400" y="136779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6706" y="4163473"/>
            <a:ext cx="4482898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🤯</a:t>
            </a:r>
            <a:r>
              <a:rPr lang="en-US" sz="2499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 Hard to Understand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4796" y="4732220"/>
            <a:ext cx="9398498" cy="5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Legal language is complex and inaccessible to common people without formal training.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65724" y="5773045"/>
            <a:ext cx="9898561" cy="1274121"/>
            <a:chOff x="0" y="0"/>
            <a:chExt cx="13198081" cy="16988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3172694" cy="1673479"/>
            </a:xfrm>
            <a:custGeom>
              <a:avLst/>
              <a:gdLst/>
              <a:ahLst/>
              <a:cxnLst/>
              <a:rect r="r" b="b" t="t" l="l"/>
              <a:pathLst>
                <a:path h="1673479" w="13172694">
                  <a:moveTo>
                    <a:pt x="0" y="124079"/>
                  </a:moveTo>
                  <a:cubicBezTo>
                    <a:pt x="0" y="55499"/>
                    <a:pt x="56261" y="0"/>
                    <a:pt x="125730" y="0"/>
                  </a:cubicBezTo>
                  <a:lnTo>
                    <a:pt x="13046963" y="0"/>
                  </a:lnTo>
                  <a:cubicBezTo>
                    <a:pt x="13116432" y="0"/>
                    <a:pt x="13172694" y="55499"/>
                    <a:pt x="13172694" y="124079"/>
                  </a:cubicBezTo>
                  <a:lnTo>
                    <a:pt x="13172694" y="1549400"/>
                  </a:lnTo>
                  <a:cubicBezTo>
                    <a:pt x="13172694" y="1617853"/>
                    <a:pt x="13116432" y="1673479"/>
                    <a:pt x="13046963" y="1673479"/>
                  </a:cubicBezTo>
                  <a:lnTo>
                    <a:pt x="125730" y="1673479"/>
                  </a:lnTo>
                  <a:cubicBezTo>
                    <a:pt x="56261" y="1673479"/>
                    <a:pt x="0" y="1617980"/>
                    <a:pt x="0" y="1549400"/>
                  </a:cubicBezTo>
                  <a:close/>
                </a:path>
              </a:pathLst>
            </a:custGeom>
            <a:solidFill>
              <a:srgbClr val="FFFFF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98094" cy="1698879"/>
            </a:xfrm>
            <a:custGeom>
              <a:avLst/>
              <a:gdLst/>
              <a:ahLst/>
              <a:cxnLst/>
              <a:rect r="r" b="b" t="t" l="l"/>
              <a:pathLst>
                <a:path h="1698879" w="13198094">
                  <a:moveTo>
                    <a:pt x="0" y="136779"/>
                  </a:moveTo>
                  <a:cubicBezTo>
                    <a:pt x="0" y="61087"/>
                    <a:pt x="62103" y="0"/>
                    <a:pt x="138430" y="0"/>
                  </a:cubicBezTo>
                  <a:lnTo>
                    <a:pt x="13059663" y="0"/>
                  </a:lnTo>
                  <a:lnTo>
                    <a:pt x="13059663" y="12700"/>
                  </a:lnTo>
                  <a:lnTo>
                    <a:pt x="13059663" y="0"/>
                  </a:lnTo>
                  <a:cubicBezTo>
                    <a:pt x="13135990" y="0"/>
                    <a:pt x="13198094" y="61087"/>
                    <a:pt x="13198094" y="136779"/>
                  </a:cubicBezTo>
                  <a:lnTo>
                    <a:pt x="13185394" y="136779"/>
                  </a:lnTo>
                  <a:lnTo>
                    <a:pt x="13198094" y="136779"/>
                  </a:lnTo>
                  <a:lnTo>
                    <a:pt x="13198094" y="1562100"/>
                  </a:lnTo>
                  <a:lnTo>
                    <a:pt x="13185394" y="1562100"/>
                  </a:lnTo>
                  <a:lnTo>
                    <a:pt x="13198094" y="1562100"/>
                  </a:lnTo>
                  <a:cubicBezTo>
                    <a:pt x="13198094" y="1637792"/>
                    <a:pt x="13135990" y="1698879"/>
                    <a:pt x="13059663" y="1698879"/>
                  </a:cubicBezTo>
                  <a:lnTo>
                    <a:pt x="13059663" y="1686179"/>
                  </a:lnTo>
                  <a:lnTo>
                    <a:pt x="13059663" y="1698879"/>
                  </a:lnTo>
                  <a:lnTo>
                    <a:pt x="138430" y="1698879"/>
                  </a:lnTo>
                  <a:lnTo>
                    <a:pt x="138430" y="1686179"/>
                  </a:lnTo>
                  <a:lnTo>
                    <a:pt x="138430" y="1698879"/>
                  </a:lnTo>
                  <a:cubicBezTo>
                    <a:pt x="62103" y="1698879"/>
                    <a:pt x="0" y="1637792"/>
                    <a:pt x="0" y="1562100"/>
                  </a:cubicBezTo>
                  <a:lnTo>
                    <a:pt x="0" y="136779"/>
                  </a:lnTo>
                  <a:lnTo>
                    <a:pt x="12700" y="136779"/>
                  </a:lnTo>
                  <a:lnTo>
                    <a:pt x="0" y="136779"/>
                  </a:lnTo>
                  <a:moveTo>
                    <a:pt x="25400" y="136779"/>
                  </a:moveTo>
                  <a:lnTo>
                    <a:pt x="25400" y="1562100"/>
                  </a:lnTo>
                  <a:lnTo>
                    <a:pt x="12700" y="1562100"/>
                  </a:lnTo>
                  <a:lnTo>
                    <a:pt x="25400" y="1562100"/>
                  </a:lnTo>
                  <a:cubicBezTo>
                    <a:pt x="25400" y="1623441"/>
                    <a:pt x="75819" y="1673479"/>
                    <a:pt x="138430" y="1673479"/>
                  </a:cubicBezTo>
                  <a:lnTo>
                    <a:pt x="13059663" y="1673479"/>
                  </a:lnTo>
                  <a:cubicBezTo>
                    <a:pt x="13122275" y="1673479"/>
                    <a:pt x="13172694" y="1623441"/>
                    <a:pt x="13172694" y="1562100"/>
                  </a:cubicBezTo>
                  <a:lnTo>
                    <a:pt x="13172694" y="136779"/>
                  </a:lnTo>
                  <a:cubicBezTo>
                    <a:pt x="13172694" y="75438"/>
                    <a:pt x="13122275" y="25400"/>
                    <a:pt x="13059663" y="25400"/>
                  </a:cubicBezTo>
                  <a:lnTo>
                    <a:pt x="138430" y="25400"/>
                  </a:lnTo>
                  <a:lnTo>
                    <a:pt x="138430" y="12700"/>
                  </a:lnTo>
                  <a:lnTo>
                    <a:pt x="138430" y="25400"/>
                  </a:lnTo>
                  <a:cubicBezTo>
                    <a:pt x="75819" y="25400"/>
                    <a:pt x="25400" y="75438"/>
                    <a:pt x="25400" y="136779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15756" y="5994502"/>
            <a:ext cx="3184179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🌐</a:t>
            </a:r>
            <a:r>
              <a:rPr lang="en-US" sz="2499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 English Only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5756" y="6550371"/>
            <a:ext cx="9398498" cy="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Most legal resources exist only in English, excluding hundreds of millions of Indians.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65724" y="7201052"/>
            <a:ext cx="9898561" cy="1274121"/>
            <a:chOff x="0" y="0"/>
            <a:chExt cx="13198081" cy="16988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13172694" cy="1673479"/>
            </a:xfrm>
            <a:custGeom>
              <a:avLst/>
              <a:gdLst/>
              <a:ahLst/>
              <a:cxnLst/>
              <a:rect r="r" b="b" t="t" l="l"/>
              <a:pathLst>
                <a:path h="1673479" w="13172694">
                  <a:moveTo>
                    <a:pt x="0" y="124079"/>
                  </a:moveTo>
                  <a:cubicBezTo>
                    <a:pt x="0" y="55499"/>
                    <a:pt x="56261" y="0"/>
                    <a:pt x="125730" y="0"/>
                  </a:cubicBezTo>
                  <a:lnTo>
                    <a:pt x="13046963" y="0"/>
                  </a:lnTo>
                  <a:cubicBezTo>
                    <a:pt x="13116432" y="0"/>
                    <a:pt x="13172694" y="55499"/>
                    <a:pt x="13172694" y="124079"/>
                  </a:cubicBezTo>
                  <a:lnTo>
                    <a:pt x="13172694" y="1549400"/>
                  </a:lnTo>
                  <a:cubicBezTo>
                    <a:pt x="13172694" y="1617853"/>
                    <a:pt x="13116432" y="1673479"/>
                    <a:pt x="13046963" y="1673479"/>
                  </a:cubicBezTo>
                  <a:lnTo>
                    <a:pt x="125730" y="1673479"/>
                  </a:lnTo>
                  <a:cubicBezTo>
                    <a:pt x="56261" y="1673479"/>
                    <a:pt x="0" y="1617980"/>
                    <a:pt x="0" y="1549400"/>
                  </a:cubicBezTo>
                  <a:close/>
                </a:path>
              </a:pathLst>
            </a:custGeom>
            <a:solidFill>
              <a:srgbClr val="FFFFF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98094" cy="1698879"/>
            </a:xfrm>
            <a:custGeom>
              <a:avLst/>
              <a:gdLst/>
              <a:ahLst/>
              <a:cxnLst/>
              <a:rect r="r" b="b" t="t" l="l"/>
              <a:pathLst>
                <a:path h="1698879" w="13198094">
                  <a:moveTo>
                    <a:pt x="0" y="136779"/>
                  </a:moveTo>
                  <a:cubicBezTo>
                    <a:pt x="0" y="61087"/>
                    <a:pt x="62103" y="0"/>
                    <a:pt x="138430" y="0"/>
                  </a:cubicBezTo>
                  <a:lnTo>
                    <a:pt x="13059663" y="0"/>
                  </a:lnTo>
                  <a:lnTo>
                    <a:pt x="13059663" y="12700"/>
                  </a:lnTo>
                  <a:lnTo>
                    <a:pt x="13059663" y="0"/>
                  </a:lnTo>
                  <a:cubicBezTo>
                    <a:pt x="13135990" y="0"/>
                    <a:pt x="13198094" y="61087"/>
                    <a:pt x="13198094" y="136779"/>
                  </a:cubicBezTo>
                  <a:lnTo>
                    <a:pt x="13185394" y="136779"/>
                  </a:lnTo>
                  <a:lnTo>
                    <a:pt x="13198094" y="136779"/>
                  </a:lnTo>
                  <a:lnTo>
                    <a:pt x="13198094" y="1562100"/>
                  </a:lnTo>
                  <a:lnTo>
                    <a:pt x="13185394" y="1562100"/>
                  </a:lnTo>
                  <a:lnTo>
                    <a:pt x="13198094" y="1562100"/>
                  </a:lnTo>
                  <a:cubicBezTo>
                    <a:pt x="13198094" y="1637792"/>
                    <a:pt x="13135990" y="1698879"/>
                    <a:pt x="13059663" y="1698879"/>
                  </a:cubicBezTo>
                  <a:lnTo>
                    <a:pt x="13059663" y="1686179"/>
                  </a:lnTo>
                  <a:lnTo>
                    <a:pt x="13059663" y="1698879"/>
                  </a:lnTo>
                  <a:lnTo>
                    <a:pt x="138430" y="1698879"/>
                  </a:lnTo>
                  <a:lnTo>
                    <a:pt x="138430" y="1686179"/>
                  </a:lnTo>
                  <a:lnTo>
                    <a:pt x="138430" y="1698879"/>
                  </a:lnTo>
                  <a:cubicBezTo>
                    <a:pt x="62103" y="1698879"/>
                    <a:pt x="0" y="1637792"/>
                    <a:pt x="0" y="1562100"/>
                  </a:cubicBezTo>
                  <a:lnTo>
                    <a:pt x="0" y="136779"/>
                  </a:lnTo>
                  <a:lnTo>
                    <a:pt x="12700" y="136779"/>
                  </a:lnTo>
                  <a:lnTo>
                    <a:pt x="0" y="136779"/>
                  </a:lnTo>
                  <a:moveTo>
                    <a:pt x="25400" y="136779"/>
                  </a:moveTo>
                  <a:lnTo>
                    <a:pt x="25400" y="1562100"/>
                  </a:lnTo>
                  <a:lnTo>
                    <a:pt x="12700" y="1562100"/>
                  </a:lnTo>
                  <a:lnTo>
                    <a:pt x="25400" y="1562100"/>
                  </a:lnTo>
                  <a:cubicBezTo>
                    <a:pt x="25400" y="1623441"/>
                    <a:pt x="75819" y="1673479"/>
                    <a:pt x="138430" y="1673479"/>
                  </a:cubicBezTo>
                  <a:lnTo>
                    <a:pt x="13059663" y="1673479"/>
                  </a:lnTo>
                  <a:cubicBezTo>
                    <a:pt x="13122275" y="1673479"/>
                    <a:pt x="13172694" y="1623441"/>
                    <a:pt x="13172694" y="1562100"/>
                  </a:cubicBezTo>
                  <a:lnTo>
                    <a:pt x="13172694" y="136779"/>
                  </a:lnTo>
                  <a:cubicBezTo>
                    <a:pt x="13172694" y="75438"/>
                    <a:pt x="13122275" y="25400"/>
                    <a:pt x="13059663" y="25400"/>
                  </a:cubicBezTo>
                  <a:lnTo>
                    <a:pt x="138430" y="25400"/>
                  </a:lnTo>
                  <a:lnTo>
                    <a:pt x="138430" y="12700"/>
                  </a:lnTo>
                  <a:lnTo>
                    <a:pt x="138430" y="25400"/>
                  </a:lnTo>
                  <a:cubicBezTo>
                    <a:pt x="75819" y="25400"/>
                    <a:pt x="25400" y="75438"/>
                    <a:pt x="25400" y="136779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15756" y="7422509"/>
            <a:ext cx="3184179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❓</a:t>
            </a:r>
            <a:r>
              <a:rPr lang="en-US" sz="2499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 Unaware of Rights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5756" y="7978378"/>
            <a:ext cx="9398498" cy="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People simply don't know what rights they have or how to exercise them.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75249" y="8660311"/>
            <a:ext cx="9879511" cy="1007269"/>
            <a:chOff x="0" y="0"/>
            <a:chExt cx="13172681" cy="13430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172694" cy="1343025"/>
            </a:xfrm>
            <a:custGeom>
              <a:avLst/>
              <a:gdLst/>
              <a:ahLst/>
              <a:cxnLst/>
              <a:rect r="r" b="b" t="t" l="l"/>
              <a:pathLst>
                <a:path h="1343025" w="13172694">
                  <a:moveTo>
                    <a:pt x="0" y="124079"/>
                  </a:moveTo>
                  <a:cubicBezTo>
                    <a:pt x="0" y="55499"/>
                    <a:pt x="55499" y="0"/>
                    <a:pt x="124079" y="0"/>
                  </a:cubicBezTo>
                  <a:lnTo>
                    <a:pt x="13048614" y="0"/>
                  </a:lnTo>
                  <a:cubicBezTo>
                    <a:pt x="13117068" y="0"/>
                    <a:pt x="13172694" y="55499"/>
                    <a:pt x="13172694" y="124079"/>
                  </a:cubicBezTo>
                  <a:lnTo>
                    <a:pt x="13172694" y="1218946"/>
                  </a:lnTo>
                  <a:cubicBezTo>
                    <a:pt x="13172694" y="1287399"/>
                    <a:pt x="13117195" y="1343025"/>
                    <a:pt x="13048614" y="1343025"/>
                  </a:cubicBezTo>
                  <a:lnTo>
                    <a:pt x="124079" y="1343025"/>
                  </a:lnTo>
                  <a:cubicBezTo>
                    <a:pt x="55626" y="1343025"/>
                    <a:pt x="0" y="1287526"/>
                    <a:pt x="0" y="1218946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96706" y="8943384"/>
            <a:ext cx="276816" cy="221456"/>
            <a:chOff x="0" y="0"/>
            <a:chExt cx="369087" cy="295275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369062" cy="295275"/>
            </a:xfrm>
            <a:custGeom>
              <a:avLst/>
              <a:gdLst/>
              <a:ahLst/>
              <a:cxnLst/>
              <a:rect r="r" b="b" t="t" l="l"/>
              <a:pathLst>
                <a:path h="295275" w="369062">
                  <a:moveTo>
                    <a:pt x="0" y="0"/>
                  </a:moveTo>
                  <a:lnTo>
                    <a:pt x="369062" y="0"/>
                  </a:lnTo>
                  <a:lnTo>
                    <a:pt x="369062" y="295275"/>
                  </a:lnTo>
                  <a:lnTo>
                    <a:pt x="0" y="295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33" t="0" r="-443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94977" y="8898141"/>
            <a:ext cx="8938317" cy="5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8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👉 </a:t>
            </a:r>
            <a:r>
              <a:rPr lang="en-US" sz="168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Result:</a:t>
            </a:r>
            <a:r>
              <a:rPr lang="en-US" sz="168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People avoid legal help or make wrong decisions — justice becomes a privilege, not a right.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184" y="1153563"/>
            <a:ext cx="5319712" cy="7979721"/>
            <a:chOff x="0" y="0"/>
            <a:chExt cx="7092950" cy="1063962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092950" cy="10639679"/>
            </a:xfrm>
            <a:custGeom>
              <a:avLst/>
              <a:gdLst/>
              <a:ahLst/>
              <a:cxnLst/>
              <a:rect r="r" b="b" t="t" l="l"/>
              <a:pathLst>
                <a:path h="10639679" w="7092950">
                  <a:moveTo>
                    <a:pt x="0" y="0"/>
                  </a:moveTo>
                  <a:lnTo>
                    <a:pt x="7092950" y="0"/>
                  </a:lnTo>
                  <a:lnTo>
                    <a:pt x="7092950" y="10639679"/>
                  </a:lnTo>
                  <a:lnTo>
                    <a:pt x="0" y="10639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" r="0" b="-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86662" y="548583"/>
            <a:ext cx="6888804" cy="8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4687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Our Solution — NyaySetu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86662" y="1613144"/>
            <a:ext cx="9972675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NyaySetu is an AI-powered legal assistant that makes legal help easy, accessible, and available in the language every Indian speaks.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72375" y="2402529"/>
            <a:ext cx="4761014" cy="1748133"/>
            <a:chOff x="0" y="0"/>
            <a:chExt cx="6348019" cy="23308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6309868" cy="2292731"/>
            </a:xfrm>
            <a:custGeom>
              <a:avLst/>
              <a:gdLst/>
              <a:ahLst/>
              <a:cxnLst/>
              <a:rect r="r" b="b" t="t" l="l"/>
              <a:pathLst>
                <a:path h="2292731" w="6309868">
                  <a:moveTo>
                    <a:pt x="0" y="182880"/>
                  </a:moveTo>
                  <a:cubicBezTo>
                    <a:pt x="0" y="81915"/>
                    <a:pt x="82677" y="0"/>
                    <a:pt x="184785" y="0"/>
                  </a:cubicBezTo>
                  <a:lnTo>
                    <a:pt x="6125083" y="0"/>
                  </a:lnTo>
                  <a:cubicBezTo>
                    <a:pt x="6227191" y="0"/>
                    <a:pt x="6309868" y="81915"/>
                    <a:pt x="6309868" y="182880"/>
                  </a:cubicBezTo>
                  <a:lnTo>
                    <a:pt x="6309868" y="2109851"/>
                  </a:lnTo>
                  <a:cubicBezTo>
                    <a:pt x="6309868" y="2210816"/>
                    <a:pt x="6227191" y="2292731"/>
                    <a:pt x="6125083" y="2292731"/>
                  </a:cubicBezTo>
                  <a:lnTo>
                    <a:pt x="184785" y="2292731"/>
                  </a:lnTo>
                  <a:cubicBezTo>
                    <a:pt x="82677" y="2292731"/>
                    <a:pt x="0" y="2210816"/>
                    <a:pt x="0" y="2109851"/>
                  </a:cubicBez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47968" cy="2330831"/>
            </a:xfrm>
            <a:custGeom>
              <a:avLst/>
              <a:gdLst/>
              <a:ahLst/>
              <a:cxnLst/>
              <a:rect r="r" b="b" t="t" l="l"/>
              <a:pathLst>
                <a:path h="2330831" w="6347968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6144133" y="0"/>
                  </a:lnTo>
                  <a:lnTo>
                    <a:pt x="6144133" y="19050"/>
                  </a:lnTo>
                  <a:lnTo>
                    <a:pt x="6144133" y="0"/>
                  </a:lnTo>
                  <a:cubicBezTo>
                    <a:pt x="6256528" y="0"/>
                    <a:pt x="6347968" y="90170"/>
                    <a:pt x="6347968" y="201930"/>
                  </a:cubicBezTo>
                  <a:lnTo>
                    <a:pt x="6328918" y="201930"/>
                  </a:lnTo>
                  <a:lnTo>
                    <a:pt x="6347968" y="201930"/>
                  </a:lnTo>
                  <a:lnTo>
                    <a:pt x="6347968" y="2128901"/>
                  </a:lnTo>
                  <a:lnTo>
                    <a:pt x="6328918" y="2128901"/>
                  </a:lnTo>
                  <a:lnTo>
                    <a:pt x="6347968" y="2128901"/>
                  </a:lnTo>
                  <a:cubicBezTo>
                    <a:pt x="6347968" y="2240661"/>
                    <a:pt x="6256528" y="2330831"/>
                    <a:pt x="6144133" y="2330831"/>
                  </a:cubicBezTo>
                  <a:lnTo>
                    <a:pt x="6144133" y="2311781"/>
                  </a:lnTo>
                  <a:lnTo>
                    <a:pt x="6144133" y="2330831"/>
                  </a:lnTo>
                  <a:lnTo>
                    <a:pt x="203835" y="2330831"/>
                  </a:lnTo>
                  <a:lnTo>
                    <a:pt x="203835" y="2311781"/>
                  </a:lnTo>
                  <a:lnTo>
                    <a:pt x="203835" y="2330831"/>
                  </a:lnTo>
                  <a:cubicBezTo>
                    <a:pt x="91440" y="2330831"/>
                    <a:pt x="0" y="2240661"/>
                    <a:pt x="0" y="212890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28901"/>
                  </a:lnTo>
                  <a:lnTo>
                    <a:pt x="19050" y="2128901"/>
                  </a:lnTo>
                  <a:lnTo>
                    <a:pt x="38100" y="2128901"/>
                  </a:lnTo>
                  <a:cubicBezTo>
                    <a:pt x="38100" y="2219198"/>
                    <a:pt x="112141" y="2292731"/>
                    <a:pt x="203835" y="2292731"/>
                  </a:cubicBezTo>
                  <a:lnTo>
                    <a:pt x="6144133" y="2292731"/>
                  </a:lnTo>
                  <a:cubicBezTo>
                    <a:pt x="6235827" y="2292731"/>
                    <a:pt x="6309868" y="2219198"/>
                    <a:pt x="6309868" y="2128901"/>
                  </a:cubicBezTo>
                  <a:lnTo>
                    <a:pt x="6309868" y="201930"/>
                  </a:lnTo>
                  <a:cubicBezTo>
                    <a:pt x="6309868" y="111633"/>
                    <a:pt x="6235827" y="38100"/>
                    <a:pt x="6144133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558088" y="2416816"/>
            <a:ext cx="114300" cy="1719558"/>
            <a:chOff x="0" y="0"/>
            <a:chExt cx="152400" cy="22927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2292731"/>
            </a:xfrm>
            <a:custGeom>
              <a:avLst/>
              <a:gdLst/>
              <a:ahLst/>
              <a:cxnLst/>
              <a:rect r="r" b="b" t="t" l="l"/>
              <a:pathLst>
                <a:path h="229273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16531"/>
                  </a:lnTo>
                  <a:cubicBezTo>
                    <a:pt x="152400" y="2258568"/>
                    <a:pt x="118237" y="2292731"/>
                    <a:pt x="76200" y="2292731"/>
                  </a:cubicBezTo>
                  <a:cubicBezTo>
                    <a:pt x="34163" y="2292731"/>
                    <a:pt x="0" y="2258568"/>
                    <a:pt x="0" y="2216531"/>
                  </a:cubicBez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909169" y="2625033"/>
            <a:ext cx="3606403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AI-Powered Legal Assistant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09169" y="3205010"/>
            <a:ext cx="4173141" cy="69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Intelligent responses grounded in Indian law, available 24/7 at your fingertips.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572375" y="4274934"/>
            <a:ext cx="4761014" cy="1513437"/>
            <a:chOff x="0" y="0"/>
            <a:chExt cx="6348019" cy="20179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6309995" cy="1979803"/>
            </a:xfrm>
            <a:custGeom>
              <a:avLst/>
              <a:gdLst/>
              <a:ahLst/>
              <a:cxnLst/>
              <a:rect r="r" b="b" t="t" l="l"/>
              <a:pathLst>
                <a:path h="1979803" w="6309995">
                  <a:moveTo>
                    <a:pt x="0" y="182880"/>
                  </a:moveTo>
                  <a:cubicBezTo>
                    <a:pt x="0" y="81915"/>
                    <a:pt x="82931" y="0"/>
                    <a:pt x="185293" y="0"/>
                  </a:cubicBezTo>
                  <a:lnTo>
                    <a:pt x="6124702" y="0"/>
                  </a:lnTo>
                  <a:cubicBezTo>
                    <a:pt x="6227064" y="0"/>
                    <a:pt x="6309995" y="81915"/>
                    <a:pt x="6309995" y="182880"/>
                  </a:cubicBezTo>
                  <a:lnTo>
                    <a:pt x="6309995" y="1796923"/>
                  </a:lnTo>
                  <a:cubicBezTo>
                    <a:pt x="6309995" y="1897888"/>
                    <a:pt x="6227064" y="1979803"/>
                    <a:pt x="6124702" y="1979803"/>
                  </a:cubicBezTo>
                  <a:lnTo>
                    <a:pt x="185293" y="1979803"/>
                  </a:lnTo>
                  <a:cubicBezTo>
                    <a:pt x="82931" y="1979803"/>
                    <a:pt x="0" y="1897888"/>
                    <a:pt x="0" y="1796923"/>
                  </a:cubicBez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48095" cy="2017903"/>
            </a:xfrm>
            <a:custGeom>
              <a:avLst/>
              <a:gdLst/>
              <a:ahLst/>
              <a:cxnLst/>
              <a:rect r="r" b="b" t="t" l="l"/>
              <a:pathLst>
                <a:path h="2017903" w="6348095">
                  <a:moveTo>
                    <a:pt x="0" y="201930"/>
                  </a:moveTo>
                  <a:cubicBezTo>
                    <a:pt x="0" y="90170"/>
                    <a:pt x="91694" y="0"/>
                    <a:pt x="204343" y="0"/>
                  </a:cubicBezTo>
                  <a:lnTo>
                    <a:pt x="6143752" y="0"/>
                  </a:lnTo>
                  <a:lnTo>
                    <a:pt x="6143752" y="19050"/>
                  </a:lnTo>
                  <a:lnTo>
                    <a:pt x="6143752" y="0"/>
                  </a:lnTo>
                  <a:cubicBezTo>
                    <a:pt x="6256401" y="0"/>
                    <a:pt x="6348095" y="90170"/>
                    <a:pt x="6348095" y="201930"/>
                  </a:cubicBezTo>
                  <a:lnTo>
                    <a:pt x="6329045" y="201930"/>
                  </a:lnTo>
                  <a:lnTo>
                    <a:pt x="6348095" y="201930"/>
                  </a:lnTo>
                  <a:lnTo>
                    <a:pt x="6348095" y="1815973"/>
                  </a:lnTo>
                  <a:lnTo>
                    <a:pt x="6329045" y="1815973"/>
                  </a:lnTo>
                  <a:lnTo>
                    <a:pt x="6348095" y="1815973"/>
                  </a:lnTo>
                  <a:cubicBezTo>
                    <a:pt x="6348095" y="1927733"/>
                    <a:pt x="6256401" y="2017903"/>
                    <a:pt x="6143752" y="2017903"/>
                  </a:cubicBezTo>
                  <a:lnTo>
                    <a:pt x="6143752" y="1998853"/>
                  </a:lnTo>
                  <a:lnTo>
                    <a:pt x="6143752" y="2017903"/>
                  </a:lnTo>
                  <a:lnTo>
                    <a:pt x="204343" y="2017903"/>
                  </a:lnTo>
                  <a:lnTo>
                    <a:pt x="204343" y="1998853"/>
                  </a:lnTo>
                  <a:lnTo>
                    <a:pt x="204343" y="2017903"/>
                  </a:lnTo>
                  <a:cubicBezTo>
                    <a:pt x="91694" y="2017903"/>
                    <a:pt x="0" y="1927733"/>
                    <a:pt x="0" y="181597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815973"/>
                  </a:lnTo>
                  <a:lnTo>
                    <a:pt x="19050" y="1815973"/>
                  </a:lnTo>
                  <a:lnTo>
                    <a:pt x="38100" y="1815973"/>
                  </a:lnTo>
                  <a:cubicBezTo>
                    <a:pt x="38100" y="1906270"/>
                    <a:pt x="112268" y="1979803"/>
                    <a:pt x="204343" y="1979803"/>
                  </a:cubicBezTo>
                  <a:lnTo>
                    <a:pt x="6143752" y="1979803"/>
                  </a:lnTo>
                  <a:cubicBezTo>
                    <a:pt x="6235827" y="1979803"/>
                    <a:pt x="6309995" y="1906270"/>
                    <a:pt x="6309995" y="1815973"/>
                  </a:cubicBezTo>
                  <a:lnTo>
                    <a:pt x="6309995" y="201930"/>
                  </a:lnTo>
                  <a:cubicBezTo>
                    <a:pt x="6309868" y="111633"/>
                    <a:pt x="6235700" y="38100"/>
                    <a:pt x="6143752" y="38100"/>
                  </a:cubicBezTo>
                  <a:lnTo>
                    <a:pt x="204343" y="38100"/>
                  </a:lnTo>
                  <a:lnTo>
                    <a:pt x="204343" y="19050"/>
                  </a:lnTo>
                  <a:lnTo>
                    <a:pt x="204343" y="38100"/>
                  </a:lnTo>
                  <a:cubicBezTo>
                    <a:pt x="112268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58088" y="4289222"/>
            <a:ext cx="114300" cy="1484862"/>
            <a:chOff x="0" y="0"/>
            <a:chExt cx="152400" cy="19798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1979803"/>
            </a:xfrm>
            <a:custGeom>
              <a:avLst/>
              <a:gdLst/>
              <a:ahLst/>
              <a:cxnLst/>
              <a:rect r="r" b="b" t="t" l="l"/>
              <a:pathLst>
                <a:path h="1979803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1903603"/>
                  </a:lnTo>
                  <a:cubicBezTo>
                    <a:pt x="152400" y="1945640"/>
                    <a:pt x="118237" y="1979803"/>
                    <a:pt x="76200" y="1979803"/>
                  </a:cubicBezTo>
                  <a:cubicBezTo>
                    <a:pt x="34163" y="1979803"/>
                    <a:pt x="0" y="1945640"/>
                    <a:pt x="0" y="1903603"/>
                  </a:cubicBez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909169" y="4497438"/>
            <a:ext cx="299307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Chat-Based Interface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09169" y="5077416"/>
            <a:ext cx="4173141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Conversational design that feels natural — no legal jargon, no intimidation.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72375" y="5912644"/>
            <a:ext cx="4761014" cy="1748133"/>
            <a:chOff x="0" y="0"/>
            <a:chExt cx="6348019" cy="23308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6309868" cy="2292731"/>
            </a:xfrm>
            <a:custGeom>
              <a:avLst/>
              <a:gdLst/>
              <a:ahLst/>
              <a:cxnLst/>
              <a:rect r="r" b="b" t="t" l="l"/>
              <a:pathLst>
                <a:path h="2292731" w="6309868">
                  <a:moveTo>
                    <a:pt x="0" y="182880"/>
                  </a:moveTo>
                  <a:cubicBezTo>
                    <a:pt x="0" y="81915"/>
                    <a:pt x="82677" y="0"/>
                    <a:pt x="184785" y="0"/>
                  </a:cubicBezTo>
                  <a:lnTo>
                    <a:pt x="6125083" y="0"/>
                  </a:lnTo>
                  <a:cubicBezTo>
                    <a:pt x="6227191" y="0"/>
                    <a:pt x="6309868" y="81915"/>
                    <a:pt x="6309868" y="182880"/>
                  </a:cubicBezTo>
                  <a:lnTo>
                    <a:pt x="6309868" y="2109851"/>
                  </a:lnTo>
                  <a:cubicBezTo>
                    <a:pt x="6309868" y="2210816"/>
                    <a:pt x="6227191" y="2292731"/>
                    <a:pt x="6125083" y="2292731"/>
                  </a:cubicBezTo>
                  <a:lnTo>
                    <a:pt x="184785" y="2292731"/>
                  </a:lnTo>
                  <a:cubicBezTo>
                    <a:pt x="82677" y="2292731"/>
                    <a:pt x="0" y="2210816"/>
                    <a:pt x="0" y="2109851"/>
                  </a:cubicBez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47968" cy="2330831"/>
            </a:xfrm>
            <a:custGeom>
              <a:avLst/>
              <a:gdLst/>
              <a:ahLst/>
              <a:cxnLst/>
              <a:rect r="r" b="b" t="t" l="l"/>
              <a:pathLst>
                <a:path h="2330831" w="6347968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6144133" y="0"/>
                  </a:lnTo>
                  <a:lnTo>
                    <a:pt x="6144133" y="19050"/>
                  </a:lnTo>
                  <a:lnTo>
                    <a:pt x="6144133" y="0"/>
                  </a:lnTo>
                  <a:cubicBezTo>
                    <a:pt x="6256528" y="0"/>
                    <a:pt x="6347968" y="90170"/>
                    <a:pt x="6347968" y="201930"/>
                  </a:cubicBezTo>
                  <a:lnTo>
                    <a:pt x="6328918" y="201930"/>
                  </a:lnTo>
                  <a:lnTo>
                    <a:pt x="6347968" y="201930"/>
                  </a:lnTo>
                  <a:lnTo>
                    <a:pt x="6347968" y="2128901"/>
                  </a:lnTo>
                  <a:lnTo>
                    <a:pt x="6328918" y="2128901"/>
                  </a:lnTo>
                  <a:lnTo>
                    <a:pt x="6347968" y="2128901"/>
                  </a:lnTo>
                  <a:cubicBezTo>
                    <a:pt x="6347968" y="2240661"/>
                    <a:pt x="6256528" y="2330831"/>
                    <a:pt x="6144133" y="2330831"/>
                  </a:cubicBezTo>
                  <a:lnTo>
                    <a:pt x="6144133" y="2311781"/>
                  </a:lnTo>
                  <a:lnTo>
                    <a:pt x="6144133" y="2330831"/>
                  </a:lnTo>
                  <a:lnTo>
                    <a:pt x="203835" y="2330831"/>
                  </a:lnTo>
                  <a:lnTo>
                    <a:pt x="203835" y="2311781"/>
                  </a:lnTo>
                  <a:lnTo>
                    <a:pt x="203835" y="2330831"/>
                  </a:lnTo>
                  <a:cubicBezTo>
                    <a:pt x="91440" y="2330831"/>
                    <a:pt x="0" y="2240661"/>
                    <a:pt x="0" y="212890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28901"/>
                  </a:lnTo>
                  <a:lnTo>
                    <a:pt x="19050" y="2128901"/>
                  </a:lnTo>
                  <a:lnTo>
                    <a:pt x="38100" y="2128901"/>
                  </a:lnTo>
                  <a:cubicBezTo>
                    <a:pt x="38100" y="2219198"/>
                    <a:pt x="112141" y="2292731"/>
                    <a:pt x="203835" y="2292731"/>
                  </a:cubicBezTo>
                  <a:lnTo>
                    <a:pt x="6144133" y="2292731"/>
                  </a:lnTo>
                  <a:cubicBezTo>
                    <a:pt x="6235827" y="2292731"/>
                    <a:pt x="6309868" y="2219198"/>
                    <a:pt x="6309868" y="2128901"/>
                  </a:cubicBezTo>
                  <a:lnTo>
                    <a:pt x="6309868" y="201930"/>
                  </a:lnTo>
                  <a:cubicBezTo>
                    <a:pt x="6309868" y="111633"/>
                    <a:pt x="6235827" y="38100"/>
                    <a:pt x="6144133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558088" y="5926931"/>
            <a:ext cx="114300" cy="1719558"/>
            <a:chOff x="0" y="0"/>
            <a:chExt cx="152400" cy="22927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2292731"/>
            </a:xfrm>
            <a:custGeom>
              <a:avLst/>
              <a:gdLst/>
              <a:ahLst/>
              <a:cxnLst/>
              <a:rect r="r" b="b" t="t" l="l"/>
              <a:pathLst>
                <a:path h="229273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16531"/>
                  </a:lnTo>
                  <a:cubicBezTo>
                    <a:pt x="152400" y="2258568"/>
                    <a:pt x="118237" y="2292731"/>
                    <a:pt x="76200" y="2292731"/>
                  </a:cubicBezTo>
                  <a:cubicBezTo>
                    <a:pt x="34163" y="2292731"/>
                    <a:pt x="0" y="2258568"/>
                    <a:pt x="0" y="2216531"/>
                  </a:cubicBez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909169" y="6135138"/>
            <a:ext cx="3552673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Multiple Indian Languages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09169" y="6715125"/>
            <a:ext cx="4173141" cy="69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Hindi, Tamil, Bengali, Telugu and more — speak to NyaySetu in your own language.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72375" y="7785049"/>
            <a:ext cx="4761014" cy="1748133"/>
            <a:chOff x="0" y="0"/>
            <a:chExt cx="6348019" cy="23308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6309868" cy="2292731"/>
            </a:xfrm>
            <a:custGeom>
              <a:avLst/>
              <a:gdLst/>
              <a:ahLst/>
              <a:cxnLst/>
              <a:rect r="r" b="b" t="t" l="l"/>
              <a:pathLst>
                <a:path h="2292731" w="6309868">
                  <a:moveTo>
                    <a:pt x="0" y="182880"/>
                  </a:moveTo>
                  <a:cubicBezTo>
                    <a:pt x="0" y="81915"/>
                    <a:pt x="82677" y="0"/>
                    <a:pt x="184785" y="0"/>
                  </a:cubicBezTo>
                  <a:lnTo>
                    <a:pt x="6125083" y="0"/>
                  </a:lnTo>
                  <a:cubicBezTo>
                    <a:pt x="6227191" y="0"/>
                    <a:pt x="6309868" y="81915"/>
                    <a:pt x="6309868" y="182880"/>
                  </a:cubicBezTo>
                  <a:lnTo>
                    <a:pt x="6309868" y="2109851"/>
                  </a:lnTo>
                  <a:cubicBezTo>
                    <a:pt x="6309868" y="2210816"/>
                    <a:pt x="6227191" y="2292731"/>
                    <a:pt x="6125083" y="2292731"/>
                  </a:cubicBezTo>
                  <a:lnTo>
                    <a:pt x="184785" y="2292731"/>
                  </a:lnTo>
                  <a:cubicBezTo>
                    <a:pt x="82677" y="2292731"/>
                    <a:pt x="0" y="2210816"/>
                    <a:pt x="0" y="2109851"/>
                  </a:cubicBez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47968" cy="2330831"/>
            </a:xfrm>
            <a:custGeom>
              <a:avLst/>
              <a:gdLst/>
              <a:ahLst/>
              <a:cxnLst/>
              <a:rect r="r" b="b" t="t" l="l"/>
              <a:pathLst>
                <a:path h="2330831" w="6347968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6144133" y="0"/>
                  </a:lnTo>
                  <a:lnTo>
                    <a:pt x="6144133" y="19050"/>
                  </a:lnTo>
                  <a:lnTo>
                    <a:pt x="6144133" y="0"/>
                  </a:lnTo>
                  <a:cubicBezTo>
                    <a:pt x="6256528" y="0"/>
                    <a:pt x="6347968" y="90170"/>
                    <a:pt x="6347968" y="201930"/>
                  </a:cubicBezTo>
                  <a:lnTo>
                    <a:pt x="6328918" y="201930"/>
                  </a:lnTo>
                  <a:lnTo>
                    <a:pt x="6347968" y="201930"/>
                  </a:lnTo>
                  <a:lnTo>
                    <a:pt x="6347968" y="2128901"/>
                  </a:lnTo>
                  <a:lnTo>
                    <a:pt x="6328918" y="2128901"/>
                  </a:lnTo>
                  <a:lnTo>
                    <a:pt x="6347968" y="2128901"/>
                  </a:lnTo>
                  <a:cubicBezTo>
                    <a:pt x="6347968" y="2240661"/>
                    <a:pt x="6256528" y="2330831"/>
                    <a:pt x="6144133" y="2330831"/>
                  </a:cubicBezTo>
                  <a:lnTo>
                    <a:pt x="6144133" y="2311781"/>
                  </a:lnTo>
                  <a:lnTo>
                    <a:pt x="6144133" y="2330831"/>
                  </a:lnTo>
                  <a:lnTo>
                    <a:pt x="203835" y="2330831"/>
                  </a:lnTo>
                  <a:lnTo>
                    <a:pt x="203835" y="2311781"/>
                  </a:lnTo>
                  <a:lnTo>
                    <a:pt x="203835" y="2330831"/>
                  </a:lnTo>
                  <a:cubicBezTo>
                    <a:pt x="91440" y="2330831"/>
                    <a:pt x="0" y="2240661"/>
                    <a:pt x="0" y="212890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28901"/>
                  </a:lnTo>
                  <a:lnTo>
                    <a:pt x="19050" y="2128901"/>
                  </a:lnTo>
                  <a:lnTo>
                    <a:pt x="38100" y="2128901"/>
                  </a:lnTo>
                  <a:cubicBezTo>
                    <a:pt x="38100" y="2219198"/>
                    <a:pt x="112141" y="2292731"/>
                    <a:pt x="203835" y="2292731"/>
                  </a:cubicBezTo>
                  <a:lnTo>
                    <a:pt x="6144133" y="2292731"/>
                  </a:lnTo>
                  <a:cubicBezTo>
                    <a:pt x="6235827" y="2292731"/>
                    <a:pt x="6309868" y="2219198"/>
                    <a:pt x="6309868" y="2128901"/>
                  </a:cubicBezTo>
                  <a:lnTo>
                    <a:pt x="6309868" y="201930"/>
                  </a:lnTo>
                  <a:cubicBezTo>
                    <a:pt x="6309868" y="111633"/>
                    <a:pt x="6235827" y="38100"/>
                    <a:pt x="6144133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558088" y="7799337"/>
            <a:ext cx="114300" cy="1719558"/>
            <a:chOff x="0" y="0"/>
            <a:chExt cx="152400" cy="22927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400" cy="2292731"/>
            </a:xfrm>
            <a:custGeom>
              <a:avLst/>
              <a:gdLst/>
              <a:ahLst/>
              <a:cxnLst/>
              <a:rect r="r" b="b" t="t" l="l"/>
              <a:pathLst>
                <a:path h="2292731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16531"/>
                  </a:lnTo>
                  <a:cubicBezTo>
                    <a:pt x="152400" y="2258568"/>
                    <a:pt x="118237" y="2292731"/>
                    <a:pt x="76200" y="2292731"/>
                  </a:cubicBezTo>
                  <a:cubicBezTo>
                    <a:pt x="34163" y="2292731"/>
                    <a:pt x="0" y="2258568"/>
                    <a:pt x="0" y="2216531"/>
                  </a:cubicBez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7909169" y="8007553"/>
            <a:ext cx="3547024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Simple Rights Explanations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09169" y="8587530"/>
            <a:ext cx="4173141" cy="69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Complex laws broken down into plain, actionable language anyone can understand.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48672" y="2426341"/>
            <a:ext cx="4420191" cy="69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 b="true">
                <a:solidFill>
                  <a:srgbClr val="EF9C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Legal help becomes easy and accessible</a:t>
            </a: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— NyaySetu bridges the gap between citizens and the justice they deserve.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836423" y="2416816"/>
            <a:ext cx="28575" cy="704107"/>
            <a:chOff x="0" y="0"/>
            <a:chExt cx="38100" cy="9388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100" cy="938784"/>
            </a:xfrm>
            <a:custGeom>
              <a:avLst/>
              <a:gdLst/>
              <a:ahLst/>
              <a:cxnLst/>
              <a:rect r="r" b="b" t="t" l="l"/>
              <a:pathLst>
                <a:path h="938784" w="38100">
                  <a:moveTo>
                    <a:pt x="0" y="0"/>
                  </a:moveTo>
                  <a:lnTo>
                    <a:pt x="38100" y="0"/>
                  </a:lnTo>
                  <a:lnTo>
                    <a:pt x="38100" y="938784"/>
                  </a:lnTo>
                  <a:lnTo>
                    <a:pt x="0" y="938784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25091"/>
            <a:ext cx="8151609" cy="112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99405"/>
            <a:ext cx="16303523" cy="38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NyaySetu is built with five powerful pillars that together create a complete legal companion for every Indian citizen.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310589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833" t="0" r="-583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3998709"/>
            <a:ext cx="407580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AI Legal Chat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708179"/>
            <a:ext cx="5198269" cy="149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Ask any legal question in plain language and receive clear, accurate answers powered by Indian legal data.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544866" y="310589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2" y="0"/>
                </a:lnTo>
                <a:lnTo>
                  <a:pt x="567032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44866" y="3998709"/>
            <a:ext cx="407580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Multilingual Support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4866" y="4708179"/>
            <a:ext cx="5198269" cy="112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Communicate in Hindi, Tamil, Bengali, Telugu, Marathi and more — breaking the English barrier.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97493" y="3105893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165" r="0" b="-416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97493" y="3998709"/>
            <a:ext cx="504036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Legal Document Generator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7493" y="4708179"/>
            <a:ext cx="5198269" cy="112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Automatically generate legally sound documents like affidavits, notices, and agreements in minutes.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676825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165" t="0" r="-416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2238" y="7661072"/>
            <a:ext cx="407580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Law Simplifier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8370541"/>
            <a:ext cx="5198269" cy="112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Translates complex legal statutes and sections into simple, everyday language anyone can grasp.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6544866" y="6768255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2" y="0"/>
                </a:lnTo>
                <a:lnTo>
                  <a:pt x="567032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165" t="0" r="-4167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44866" y="7661072"/>
            <a:ext cx="423371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Lawyer Referral System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4866" y="8370541"/>
            <a:ext cx="5198269" cy="112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Connect with verified, affordable lawyers nearby when your case needs professional human expertise.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3739" y="670770"/>
            <a:ext cx="7259984" cy="100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687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It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739" y="2102348"/>
            <a:ext cx="16520522" cy="32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From question to resolution — NyaySetu guides every user through a seamless five-step journey to legal clarity.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8353" y="2684707"/>
            <a:ext cx="15991284" cy="6000598"/>
            <a:chOff x="0" y="0"/>
            <a:chExt cx="21321712" cy="800079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321776" cy="8000746"/>
            </a:xfrm>
            <a:custGeom>
              <a:avLst/>
              <a:gdLst/>
              <a:ahLst/>
              <a:cxnLst/>
              <a:rect r="r" b="b" t="t" l="l"/>
              <a:pathLst>
                <a:path h="8000746" w="21321776">
                  <a:moveTo>
                    <a:pt x="0" y="0"/>
                  </a:moveTo>
                  <a:lnTo>
                    <a:pt x="21321776" y="0"/>
                  </a:lnTo>
                  <a:lnTo>
                    <a:pt x="21321776" y="8000746"/>
                  </a:lnTo>
                  <a:lnTo>
                    <a:pt x="0" y="8000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0" r="-2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14805031" y="4213174"/>
            <a:ext cx="826008" cy="826008"/>
          </a:xfrm>
          <a:custGeom>
            <a:avLst/>
            <a:gdLst/>
            <a:ahLst/>
            <a:cxnLst/>
            <a:rect r="r" b="b" t="t" l="l"/>
            <a:pathLst>
              <a:path h="826008" w="826008">
                <a:moveTo>
                  <a:pt x="0" y="0"/>
                </a:moveTo>
                <a:lnTo>
                  <a:pt x="826008" y="0"/>
                </a:lnTo>
                <a:lnTo>
                  <a:pt x="826008" y="826008"/>
                </a:lnTo>
                <a:lnTo>
                  <a:pt x="0" y="826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045" r="0" b="-804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069111" y="6876859"/>
            <a:ext cx="2411940" cy="113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5"/>
              </a:lnSpc>
            </a:pPr>
            <a:r>
              <a:rPr lang="en-US" sz="3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Connect Lawyer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1781072" y="4214717"/>
            <a:ext cx="826008" cy="826008"/>
          </a:xfrm>
          <a:custGeom>
            <a:avLst/>
            <a:gdLst/>
            <a:ahLst/>
            <a:cxnLst/>
            <a:rect r="r" b="b" t="t" l="l"/>
            <a:pathLst>
              <a:path h="826008" w="826008">
                <a:moveTo>
                  <a:pt x="0" y="0"/>
                </a:moveTo>
                <a:lnTo>
                  <a:pt x="826008" y="0"/>
                </a:lnTo>
                <a:lnTo>
                  <a:pt x="826008" y="826008"/>
                </a:lnTo>
                <a:lnTo>
                  <a:pt x="0" y="826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919" r="0" b="-1091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29407" y="6876859"/>
            <a:ext cx="2411940" cy="113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5"/>
              </a:lnSpc>
            </a:pPr>
            <a:r>
              <a:rPr lang="en-US" sz="3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Generate Doc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8757895" y="4214717"/>
            <a:ext cx="826008" cy="826008"/>
          </a:xfrm>
          <a:custGeom>
            <a:avLst/>
            <a:gdLst/>
            <a:ahLst/>
            <a:cxnLst/>
            <a:rect r="r" b="b" t="t" l="l"/>
            <a:pathLst>
              <a:path h="826008" w="826008">
                <a:moveTo>
                  <a:pt x="0" y="0"/>
                </a:moveTo>
                <a:lnTo>
                  <a:pt x="826008" y="0"/>
                </a:lnTo>
                <a:lnTo>
                  <a:pt x="826008" y="826008"/>
                </a:lnTo>
                <a:lnTo>
                  <a:pt x="0" y="826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321" t="0" r="-632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06229" y="6876859"/>
            <a:ext cx="2411940" cy="113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5"/>
              </a:lnSpc>
            </a:pPr>
            <a:r>
              <a:rPr lang="en-US" sz="3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Plain Answer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5734707" y="4214717"/>
            <a:ext cx="826008" cy="826008"/>
          </a:xfrm>
          <a:custGeom>
            <a:avLst/>
            <a:gdLst/>
            <a:ahLst/>
            <a:cxnLst/>
            <a:rect r="r" b="b" t="t" l="l"/>
            <a:pathLst>
              <a:path h="826008" w="826008">
                <a:moveTo>
                  <a:pt x="0" y="0"/>
                </a:moveTo>
                <a:lnTo>
                  <a:pt x="826008" y="0"/>
                </a:lnTo>
                <a:lnTo>
                  <a:pt x="826008" y="826008"/>
                </a:lnTo>
                <a:lnTo>
                  <a:pt x="0" y="826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471" r="0" b="-747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83042" y="6876859"/>
            <a:ext cx="2411940" cy="113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5"/>
              </a:lnSpc>
            </a:pPr>
            <a:r>
              <a:rPr lang="en-US" sz="3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AI Reviews Law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2695004" y="4214717"/>
            <a:ext cx="826008" cy="826008"/>
          </a:xfrm>
          <a:custGeom>
            <a:avLst/>
            <a:gdLst/>
            <a:ahLst/>
            <a:cxnLst/>
            <a:rect r="r" b="b" t="t" l="l"/>
            <a:pathLst>
              <a:path h="826008" w="826008">
                <a:moveTo>
                  <a:pt x="0" y="0"/>
                </a:moveTo>
                <a:lnTo>
                  <a:pt x="826008" y="0"/>
                </a:lnTo>
                <a:lnTo>
                  <a:pt x="826008" y="826008"/>
                </a:lnTo>
                <a:lnTo>
                  <a:pt x="0" y="8260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299" r="0" b="-229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93780" y="6876859"/>
            <a:ext cx="2411940" cy="113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5"/>
              </a:lnSpc>
            </a:pPr>
            <a:r>
              <a:rPr lang="en-US" sz="3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Ask Question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3739" y="8919267"/>
            <a:ext cx="16520522" cy="63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entire journey — from asking a question to receiving professional legal support — is designed to be intuitive, fast, and available in the user's preferred Indian language.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60359" y="596656"/>
            <a:ext cx="5986310" cy="82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4687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Business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0359" y="1737570"/>
            <a:ext cx="14367119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NyaySetu is built on a sustainable, scalable revenue model that keeps core access free while monetising premium services — ensuring both social impact and commercial viability.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60359" y="2541241"/>
            <a:ext cx="6929590" cy="6929590"/>
            <a:chOff x="0" y="0"/>
            <a:chExt cx="9239453" cy="923945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239504" cy="9239504"/>
            </a:xfrm>
            <a:custGeom>
              <a:avLst/>
              <a:gdLst/>
              <a:ahLst/>
              <a:cxnLst/>
              <a:rect r="r" b="b" t="t" l="l"/>
              <a:pathLst>
                <a:path h="9239504" w="9239504">
                  <a:moveTo>
                    <a:pt x="0" y="0"/>
                  </a:moveTo>
                  <a:lnTo>
                    <a:pt x="9239504" y="0"/>
                  </a:lnTo>
                  <a:lnTo>
                    <a:pt x="9239504" y="9239504"/>
                  </a:lnTo>
                  <a:lnTo>
                    <a:pt x="0" y="923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60359" y="2541241"/>
            <a:ext cx="6929590" cy="6929590"/>
            <a:chOff x="0" y="0"/>
            <a:chExt cx="9239453" cy="92394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239504" cy="9239504"/>
            </a:xfrm>
            <a:custGeom>
              <a:avLst/>
              <a:gdLst/>
              <a:ahLst/>
              <a:cxnLst/>
              <a:rect r="r" b="b" t="t" l="l"/>
              <a:pathLst>
                <a:path h="9239504" w="9239504">
                  <a:moveTo>
                    <a:pt x="0" y="0"/>
                  </a:moveTo>
                  <a:lnTo>
                    <a:pt x="9239504" y="0"/>
                  </a:lnTo>
                  <a:lnTo>
                    <a:pt x="9239504" y="9239504"/>
                  </a:lnTo>
                  <a:lnTo>
                    <a:pt x="0" y="923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78706" y="3954809"/>
            <a:ext cx="57150" cy="1926879"/>
            <a:chOff x="0" y="0"/>
            <a:chExt cx="76200" cy="2569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2569210"/>
            </a:xfrm>
            <a:custGeom>
              <a:avLst/>
              <a:gdLst/>
              <a:ahLst/>
              <a:cxnLst/>
              <a:rect r="r" b="b" t="t" l="l"/>
              <a:pathLst>
                <a:path h="2569210" w="76200">
                  <a:moveTo>
                    <a:pt x="0" y="0"/>
                  </a:moveTo>
                  <a:lnTo>
                    <a:pt x="76200" y="0"/>
                  </a:lnTo>
                  <a:lnTo>
                    <a:pt x="76200" y="2569210"/>
                  </a:lnTo>
                  <a:lnTo>
                    <a:pt x="0" y="256921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72638" y="3954809"/>
            <a:ext cx="2993079" cy="41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Freemium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72638" y="4534795"/>
            <a:ext cx="3103807" cy="69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Core legal chat is free for all users — driving mass adoption across India.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938970" y="3954809"/>
            <a:ext cx="57150" cy="1926879"/>
            <a:chOff x="0" y="0"/>
            <a:chExt cx="76200" cy="25691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2569210"/>
            </a:xfrm>
            <a:custGeom>
              <a:avLst/>
              <a:gdLst/>
              <a:ahLst/>
              <a:cxnLst/>
              <a:rect r="r" b="b" t="t" l="l"/>
              <a:pathLst>
                <a:path h="2569210" w="76200">
                  <a:moveTo>
                    <a:pt x="0" y="0"/>
                  </a:moveTo>
                  <a:lnTo>
                    <a:pt x="76200" y="0"/>
                  </a:lnTo>
                  <a:lnTo>
                    <a:pt x="76200" y="2569210"/>
                  </a:lnTo>
                  <a:lnTo>
                    <a:pt x="0" y="256921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32902" y="3954809"/>
            <a:ext cx="3103959" cy="80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Paid Document Generation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32902" y="4923834"/>
            <a:ext cx="3103959" cy="92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Users pay a small fee to generate legally valid documents — high value, low cost.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78706" y="6130233"/>
            <a:ext cx="57150" cy="1926879"/>
            <a:chOff x="0" y="0"/>
            <a:chExt cx="76200" cy="25691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2569210"/>
            </a:xfrm>
            <a:custGeom>
              <a:avLst/>
              <a:gdLst/>
              <a:ahLst/>
              <a:cxnLst/>
              <a:rect r="r" b="b" t="t" l="l"/>
              <a:pathLst>
                <a:path h="2569210" w="76200">
                  <a:moveTo>
                    <a:pt x="0" y="0"/>
                  </a:moveTo>
                  <a:lnTo>
                    <a:pt x="76200" y="0"/>
                  </a:lnTo>
                  <a:lnTo>
                    <a:pt x="76200" y="2569210"/>
                  </a:lnTo>
                  <a:lnTo>
                    <a:pt x="0" y="256921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72638" y="6130233"/>
            <a:ext cx="3103807" cy="80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Lawyer Referral Commission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72638" y="7099249"/>
            <a:ext cx="3103807" cy="92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NyaySetu earns a commission each time a user is successfully connected with a lawyer.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938970" y="6130233"/>
            <a:ext cx="57150" cy="1926879"/>
            <a:chOff x="0" y="0"/>
            <a:chExt cx="76200" cy="25691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00" cy="2569210"/>
            </a:xfrm>
            <a:custGeom>
              <a:avLst/>
              <a:gdLst/>
              <a:ahLst/>
              <a:cxnLst/>
              <a:rect r="r" b="b" t="t" l="l"/>
              <a:pathLst>
                <a:path h="2569210" w="76200">
                  <a:moveTo>
                    <a:pt x="0" y="0"/>
                  </a:moveTo>
                  <a:lnTo>
                    <a:pt x="76200" y="0"/>
                  </a:lnTo>
                  <a:lnTo>
                    <a:pt x="76200" y="2569210"/>
                  </a:lnTo>
                  <a:lnTo>
                    <a:pt x="0" y="2569210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232902" y="6130233"/>
            <a:ext cx="3103959" cy="80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Future: Subscription Plans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32902" y="7099249"/>
            <a:ext cx="3103959" cy="92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Monthly and annual plans for individuals, businesses, and NGOs needing regular legal support.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684" y="1198807"/>
            <a:ext cx="5259591" cy="7889377"/>
            <a:chOff x="0" y="0"/>
            <a:chExt cx="7012788" cy="1051916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012813" cy="10519156"/>
            </a:xfrm>
            <a:custGeom>
              <a:avLst/>
              <a:gdLst/>
              <a:ahLst/>
              <a:cxnLst/>
              <a:rect r="r" b="b" t="t" l="l"/>
              <a:pathLst>
                <a:path h="10519156" w="7012813">
                  <a:moveTo>
                    <a:pt x="0" y="0"/>
                  </a:moveTo>
                  <a:lnTo>
                    <a:pt x="7012813" y="0"/>
                  </a:lnTo>
                  <a:lnTo>
                    <a:pt x="7012813" y="10519156"/>
                  </a:lnTo>
                  <a:lnTo>
                    <a:pt x="0" y="10519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742655"/>
            <a:ext cx="8151609" cy="112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Our Vision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2275132"/>
            <a:ext cx="9445523" cy="7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NyaySetu is more than a product — it is a movement to democratise justice across India.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35951" y="3335836"/>
            <a:ext cx="9474098" cy="4462167"/>
            <a:chOff x="0" y="0"/>
            <a:chExt cx="12632131" cy="59495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12594082" cy="5911469"/>
            </a:xfrm>
            <a:custGeom>
              <a:avLst/>
              <a:gdLst/>
              <a:ahLst/>
              <a:cxnLst/>
              <a:rect r="r" b="b" t="t" l="l"/>
              <a:pathLst>
                <a:path h="5911469" w="12594082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12434697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5752719"/>
                  </a:lnTo>
                  <a:cubicBezTo>
                    <a:pt x="12594082" y="5840349"/>
                    <a:pt x="12522708" y="5911469"/>
                    <a:pt x="12434697" y="5911469"/>
                  </a:cubicBezTo>
                  <a:lnTo>
                    <a:pt x="159385" y="5911469"/>
                  </a:lnTo>
                  <a:cubicBezTo>
                    <a:pt x="71374" y="5911469"/>
                    <a:pt x="0" y="5840349"/>
                    <a:pt x="0" y="5752719"/>
                  </a:cubicBezTo>
                  <a:close/>
                </a:path>
              </a:pathLst>
            </a:custGeom>
            <a:solidFill>
              <a:srgbClr val="FFFFF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32182" cy="5949569"/>
            </a:xfrm>
            <a:custGeom>
              <a:avLst/>
              <a:gdLst/>
              <a:ahLst/>
              <a:cxnLst/>
              <a:rect r="r" b="b" t="t" l="l"/>
              <a:pathLst>
                <a:path h="5949569" w="12632182">
                  <a:moveTo>
                    <a:pt x="0" y="177800"/>
                  </a:moveTo>
                  <a:cubicBezTo>
                    <a:pt x="0" y="79502"/>
                    <a:pt x="79883" y="0"/>
                    <a:pt x="178435" y="0"/>
                  </a:cubicBezTo>
                  <a:lnTo>
                    <a:pt x="12453747" y="0"/>
                  </a:lnTo>
                  <a:lnTo>
                    <a:pt x="12453747" y="19050"/>
                  </a:lnTo>
                  <a:lnTo>
                    <a:pt x="12453747" y="0"/>
                  </a:lnTo>
                  <a:cubicBezTo>
                    <a:pt x="12552172" y="0"/>
                    <a:pt x="12632182" y="79502"/>
                    <a:pt x="12632182" y="177800"/>
                  </a:cubicBezTo>
                  <a:lnTo>
                    <a:pt x="12613132" y="177800"/>
                  </a:lnTo>
                  <a:lnTo>
                    <a:pt x="12632182" y="177800"/>
                  </a:lnTo>
                  <a:lnTo>
                    <a:pt x="12632182" y="5771769"/>
                  </a:lnTo>
                  <a:lnTo>
                    <a:pt x="12613132" y="5771769"/>
                  </a:lnTo>
                  <a:lnTo>
                    <a:pt x="12632182" y="5771769"/>
                  </a:lnTo>
                  <a:cubicBezTo>
                    <a:pt x="12632182" y="5870067"/>
                    <a:pt x="12552299" y="5949569"/>
                    <a:pt x="12453747" y="5949569"/>
                  </a:cubicBezTo>
                  <a:lnTo>
                    <a:pt x="12453747" y="5930519"/>
                  </a:lnTo>
                  <a:lnTo>
                    <a:pt x="12453747" y="5949569"/>
                  </a:lnTo>
                  <a:lnTo>
                    <a:pt x="178435" y="5949569"/>
                  </a:lnTo>
                  <a:lnTo>
                    <a:pt x="178435" y="5930519"/>
                  </a:lnTo>
                  <a:lnTo>
                    <a:pt x="178435" y="5949569"/>
                  </a:lnTo>
                  <a:cubicBezTo>
                    <a:pt x="80010" y="5949569"/>
                    <a:pt x="0" y="5870067"/>
                    <a:pt x="0" y="5771769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5771769"/>
                  </a:lnTo>
                  <a:lnTo>
                    <a:pt x="19050" y="5771769"/>
                  </a:lnTo>
                  <a:lnTo>
                    <a:pt x="38100" y="5771769"/>
                  </a:lnTo>
                  <a:cubicBezTo>
                    <a:pt x="38100" y="5848858"/>
                    <a:pt x="100838" y="5911469"/>
                    <a:pt x="178435" y="5911469"/>
                  </a:cubicBezTo>
                  <a:lnTo>
                    <a:pt x="12453747" y="5911469"/>
                  </a:lnTo>
                  <a:cubicBezTo>
                    <a:pt x="12531217" y="5911469"/>
                    <a:pt x="12594082" y="5848858"/>
                    <a:pt x="12594082" y="5771769"/>
                  </a:cubicBezTo>
                  <a:lnTo>
                    <a:pt x="12594082" y="177800"/>
                  </a:lnTo>
                  <a:cubicBezTo>
                    <a:pt x="12594082" y="100711"/>
                    <a:pt x="12531344" y="38100"/>
                    <a:pt x="12453747" y="38100"/>
                  </a:cubicBezTo>
                  <a:lnTo>
                    <a:pt x="178435" y="38100"/>
                  </a:lnTo>
                  <a:lnTo>
                    <a:pt x="178435" y="19050"/>
                  </a:lnTo>
                  <a:lnTo>
                    <a:pt x="178435" y="38100"/>
                  </a:lnTo>
                  <a:cubicBezTo>
                    <a:pt x="100838" y="38100"/>
                    <a:pt x="38100" y="100711"/>
                    <a:pt x="38100" y="177800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878813" y="3378698"/>
            <a:ext cx="9388373" cy="2372468"/>
            <a:chOff x="0" y="0"/>
            <a:chExt cx="12517831" cy="31632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17882" cy="3163316"/>
            </a:xfrm>
            <a:custGeom>
              <a:avLst/>
              <a:gdLst/>
              <a:ahLst/>
              <a:cxnLst/>
              <a:rect r="r" b="b" t="t" l="l"/>
              <a:pathLst>
                <a:path h="3163316" w="12517882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359132" y="0"/>
                  </a:lnTo>
                  <a:cubicBezTo>
                    <a:pt x="12446762" y="0"/>
                    <a:pt x="12517882" y="71120"/>
                    <a:pt x="12517882" y="158750"/>
                  </a:cubicBezTo>
                  <a:lnTo>
                    <a:pt x="12517882" y="3004566"/>
                  </a:lnTo>
                  <a:cubicBezTo>
                    <a:pt x="12517882" y="3092196"/>
                    <a:pt x="12446762" y="3163316"/>
                    <a:pt x="12359132" y="3163316"/>
                  </a:cubicBezTo>
                  <a:lnTo>
                    <a:pt x="158750" y="3163316"/>
                  </a:lnTo>
                  <a:cubicBezTo>
                    <a:pt x="71120" y="3163316"/>
                    <a:pt x="0" y="3092196"/>
                    <a:pt x="0" y="3004566"/>
                  </a:cubicBezTo>
                  <a:close/>
                </a:path>
              </a:pathLst>
            </a:custGeom>
            <a:solidFill>
              <a:srgbClr val="FFFFF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162334" y="3633635"/>
            <a:ext cx="556662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🇮🇳</a:t>
            </a:r>
            <a:r>
              <a:rPr lang="en-US" sz="318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 Legal Help for Every Indian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62334" y="4343105"/>
            <a:ext cx="8821341" cy="112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From rural villages to urban centres, every citizen deserves access to legal knowledge — regardless of language, income, or education.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78813" y="5751166"/>
            <a:ext cx="9388373" cy="2003974"/>
            <a:chOff x="0" y="0"/>
            <a:chExt cx="12517831" cy="26719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17882" cy="2671953"/>
            </a:xfrm>
            <a:custGeom>
              <a:avLst/>
              <a:gdLst/>
              <a:ahLst/>
              <a:cxnLst/>
              <a:rect r="r" b="b" t="t" l="l"/>
              <a:pathLst>
                <a:path h="2671953" w="12517882">
                  <a:moveTo>
                    <a:pt x="0" y="0"/>
                  </a:moveTo>
                  <a:lnTo>
                    <a:pt x="12517882" y="0"/>
                  </a:lnTo>
                  <a:lnTo>
                    <a:pt x="12517882" y="2671953"/>
                  </a:lnTo>
                  <a:lnTo>
                    <a:pt x="0" y="2671953"/>
                  </a:lnTo>
                  <a:close/>
                </a:path>
              </a:pathLst>
            </a:custGeom>
            <a:solidFill>
              <a:srgbClr val="FFFFF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878813" y="5751166"/>
            <a:ext cx="9388373" cy="38100"/>
            <a:chOff x="0" y="0"/>
            <a:chExt cx="12517831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17882" cy="50800"/>
            </a:xfrm>
            <a:custGeom>
              <a:avLst/>
              <a:gdLst/>
              <a:ahLst/>
              <a:cxnLst/>
              <a:rect r="r" b="b" t="t" l="l"/>
              <a:pathLst>
                <a:path h="50800" w="125178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492482" y="0"/>
                  </a:lnTo>
                  <a:cubicBezTo>
                    <a:pt x="12506451" y="0"/>
                    <a:pt x="12517882" y="11430"/>
                    <a:pt x="12517882" y="25400"/>
                  </a:cubicBezTo>
                  <a:cubicBezTo>
                    <a:pt x="12517882" y="39370"/>
                    <a:pt x="12506451" y="50800"/>
                    <a:pt x="124924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FFE0C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162334" y="6006103"/>
            <a:ext cx="55666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⚖️</a:t>
            </a:r>
            <a:r>
              <a:rPr lang="en-US" sz="3187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 Bridge the Justice Gap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62334" y="6715573"/>
            <a:ext cx="8821341" cy="7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NyaySetu closes the distance between ordinary people and the justice system — making rights real, not just theoretical.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75434" y="8402536"/>
            <a:ext cx="9020327" cy="75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187" b="true">
                <a:solidFill>
                  <a:srgbClr val="EF9C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"Justice complicated is justice avoided — NyaySetu simplifies it."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50238" y="8102651"/>
            <a:ext cx="38100" cy="1374877"/>
            <a:chOff x="0" y="0"/>
            <a:chExt cx="50800" cy="18331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" cy="1833118"/>
            </a:xfrm>
            <a:custGeom>
              <a:avLst/>
              <a:gdLst/>
              <a:ahLst/>
              <a:cxnLst/>
              <a:rect r="r" b="b" t="t" l="l"/>
              <a:pathLst>
                <a:path h="1833118" w="50800">
                  <a:moveTo>
                    <a:pt x="0" y="0"/>
                  </a:moveTo>
                  <a:lnTo>
                    <a:pt x="50800" y="0"/>
                  </a:lnTo>
                  <a:lnTo>
                    <a:pt x="50800" y="1833118"/>
                  </a:lnTo>
                  <a:lnTo>
                    <a:pt x="0" y="1833118"/>
                  </a:lnTo>
                  <a:close/>
                </a:path>
              </a:pathLst>
            </a:custGeom>
            <a:solidFill>
              <a:srgbClr val="FF954F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DAHHHSkJqnE</dc:identifier>
  <dcterms:modified xsi:type="dcterms:W3CDTF">2011-08-01T06:04:30Z</dcterms:modified>
  <cp:revision>1</cp:revision>
  <dc:title>NyaySetu.pptx</dc:title>
</cp:coreProperties>
</file>